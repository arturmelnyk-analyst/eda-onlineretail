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5377" y="-59499"/>
            <a:ext cx="7313244" cy="10553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9017" y="1587500"/>
            <a:ext cx="7512050" cy="2494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7272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artur.melnyk/viz/EDAvisualization/OnlineRetailEDAStory" TargetMode="External"/><Relationship Id="rId2" Type="http://schemas.openxmlformats.org/officeDocument/2006/relationships/hyperlink" Target="https://github.com/ArturMelnyk-analyst/EDA-onlineretai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8746" y="2449703"/>
            <a:ext cx="5020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Online</a:t>
            </a:r>
            <a:r>
              <a:rPr spc="-50" dirty="0"/>
              <a:t> </a:t>
            </a:r>
            <a:r>
              <a:rPr dirty="0"/>
              <a:t>Retail</a:t>
            </a:r>
            <a:r>
              <a:rPr spc="-45" dirty="0"/>
              <a:t> </a:t>
            </a:r>
            <a:r>
              <a:rPr dirty="0"/>
              <a:t>EDA</a:t>
            </a:r>
            <a:r>
              <a:rPr spc="-4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Customer</a:t>
            </a:r>
            <a:r>
              <a:rPr spc="-50" dirty="0"/>
              <a:t> </a:t>
            </a:r>
            <a:r>
              <a:rPr dirty="0"/>
              <a:t>&amp;</a:t>
            </a:r>
            <a:r>
              <a:rPr spc="-45" dirty="0"/>
              <a:t> </a:t>
            </a:r>
            <a:r>
              <a:rPr dirty="0"/>
              <a:t>Returns</a:t>
            </a:r>
            <a:r>
              <a:rPr spc="-4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1340" y="3919220"/>
            <a:ext cx="6073140" cy="150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Data-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Driven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Insights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from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500,000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Transactions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(2009–2011)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>
              <a:latin typeface="Segoe UI"/>
              <a:cs typeface="Segoe UI"/>
            </a:endParaRPr>
          </a:p>
          <a:p>
            <a:pPr marL="1632585" marR="1621155" algn="ctr">
              <a:lnSpc>
                <a:spcPct val="116700"/>
              </a:lnSpc>
              <a:spcBef>
                <a:spcPts val="5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Artur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Melnyk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Data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Analyst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Python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·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Excel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·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Tableau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61042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</a:t>
            </a:r>
            <a:r>
              <a:rPr lang="en-US" spc="-20" dirty="0"/>
              <a:t>6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endParaRPr spc="-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37" rIns="0" bIns="0" rtlCol="0">
            <a:spAutoFit/>
          </a:bodyPr>
          <a:lstStyle/>
          <a:p>
            <a:pPr marL="280987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9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977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633220"/>
            <a:ext cx="75857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Objective: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Uncover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revenue,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customer,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and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return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trends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from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Online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Retail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II</a:t>
            </a:r>
            <a:r>
              <a:rPr sz="1800" spc="-2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dataset.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501900"/>
            <a:ext cx="7319645" cy="199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Scope: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Period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20" dirty="0">
                <a:solidFill>
                  <a:srgbClr val="272727"/>
                </a:solidFill>
                <a:latin typeface="Segoe UI"/>
                <a:cs typeface="Segoe UI"/>
              </a:rPr>
              <a:t>2009–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2011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·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~500K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transactions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·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8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columns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Char char="•"/>
            </a:pP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Business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Questions:</a:t>
            </a:r>
            <a:endParaRPr sz="1800">
              <a:latin typeface="Segoe UI"/>
              <a:cs typeface="Segoe UI"/>
            </a:endParaRPr>
          </a:p>
          <a:p>
            <a:pPr marL="166370" indent="-153670">
              <a:lnSpc>
                <a:spcPct val="100000"/>
              </a:lnSpc>
              <a:buChar char="•"/>
              <a:tabLst>
                <a:tab pos="166370" algn="l"/>
              </a:tabLst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What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drives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revenue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growth?</a:t>
            </a:r>
            <a:endParaRPr sz="1800">
              <a:latin typeface="Segoe UI"/>
              <a:cs typeface="Segoe UI"/>
            </a:endParaRPr>
          </a:p>
          <a:p>
            <a:pPr marL="166370" indent="-153670">
              <a:lnSpc>
                <a:spcPct val="100000"/>
              </a:lnSpc>
              <a:buChar char="•"/>
              <a:tabLst>
                <a:tab pos="166370" algn="l"/>
              </a:tabLst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Who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are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top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customers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and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high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returners?</a:t>
            </a:r>
            <a:endParaRPr sz="1800">
              <a:latin typeface="Segoe UI"/>
              <a:cs typeface="Segoe UI"/>
            </a:endParaRPr>
          </a:p>
          <a:p>
            <a:pPr marL="166370" indent="-153670">
              <a:lnSpc>
                <a:spcPct val="100000"/>
              </a:lnSpc>
              <a:buChar char="•"/>
              <a:tabLst>
                <a:tab pos="166370" algn="l"/>
              </a:tabLst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Which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products/countries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contribute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most?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Timeline: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Data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Prep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EDA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Visualization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Documentation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Delivery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2203" y="4641824"/>
            <a:ext cx="8319134" cy="362585"/>
            <a:chOff x="412203" y="4641824"/>
            <a:chExt cx="8319134" cy="3625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203" y="4732908"/>
              <a:ext cx="8318525" cy="2714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6844" y="4754524"/>
              <a:ext cx="8229600" cy="182880"/>
            </a:xfrm>
            <a:custGeom>
              <a:avLst/>
              <a:gdLst/>
              <a:ahLst/>
              <a:cxnLst/>
              <a:rect l="l" t="t" r="r" b="b"/>
              <a:pathLst>
                <a:path w="8229600" h="182879">
                  <a:moveTo>
                    <a:pt x="8229231" y="0"/>
                  </a:moveTo>
                  <a:lnTo>
                    <a:pt x="0" y="0"/>
                  </a:lnTo>
                  <a:lnTo>
                    <a:pt x="0" y="182511"/>
                  </a:lnTo>
                  <a:lnTo>
                    <a:pt x="4114800" y="182511"/>
                  </a:lnTo>
                  <a:lnTo>
                    <a:pt x="8229231" y="182511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6844" y="4754524"/>
              <a:ext cx="8229600" cy="182880"/>
            </a:xfrm>
            <a:custGeom>
              <a:avLst/>
              <a:gdLst/>
              <a:ahLst/>
              <a:cxnLst/>
              <a:rect l="l" t="t" r="r" b="b"/>
              <a:pathLst>
                <a:path w="8229600" h="182879">
                  <a:moveTo>
                    <a:pt x="4114800" y="182511"/>
                  </a:moveTo>
                  <a:lnTo>
                    <a:pt x="0" y="182511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182511"/>
                  </a:lnTo>
                  <a:lnTo>
                    <a:pt x="4114800" y="182511"/>
                  </a:lnTo>
                  <a:close/>
                </a:path>
              </a:pathLst>
            </a:custGeom>
            <a:ln w="9359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559" y="4641824"/>
              <a:ext cx="317881" cy="3175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520" y="4658759"/>
              <a:ext cx="237959" cy="2379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8479" y="4641824"/>
              <a:ext cx="317881" cy="31753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8440" y="4658759"/>
              <a:ext cx="237959" cy="2379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4399" y="4641824"/>
              <a:ext cx="317881" cy="31753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4360" y="4658759"/>
              <a:ext cx="237959" cy="23795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0319" y="4641824"/>
              <a:ext cx="317881" cy="3175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90280" y="4658759"/>
              <a:ext cx="237959" cy="2379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6239" y="4641824"/>
              <a:ext cx="317880" cy="31753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6200" y="4658759"/>
              <a:ext cx="237959" cy="23795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42696" y="5061140"/>
            <a:ext cx="7994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Segoe UI"/>
                <a:cs typeface="Segoe UI"/>
              </a:rPr>
              <a:t>Data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Prep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30777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</a:t>
            </a:r>
            <a:r>
              <a:rPr lang="en-US" spc="-20" dirty="0"/>
              <a:t>6</a:t>
            </a:r>
            <a:endParaRPr spc="-20" dirty="0"/>
          </a:p>
        </p:txBody>
      </p:sp>
      <p:sp>
        <p:nvSpPr>
          <p:cNvPr id="21" name="object 21"/>
          <p:cNvSpPr txBox="1"/>
          <p:nvPr/>
        </p:nvSpPr>
        <p:spPr>
          <a:xfrm>
            <a:off x="2088616" y="5061140"/>
            <a:ext cx="3511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Segoe UI"/>
                <a:cs typeface="Segoe UI"/>
              </a:rPr>
              <a:t>EDA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34536" y="5061140"/>
            <a:ext cx="9099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Segoe UI"/>
                <a:cs typeface="Segoe UI"/>
              </a:rPr>
              <a:t>Visualizatio </a:t>
            </a:r>
            <a:r>
              <a:rPr sz="1400" spc="-50" dirty="0">
                <a:latin typeface="Segoe UI"/>
                <a:cs typeface="Segoe UI"/>
              </a:rPr>
              <a:t>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80456" y="5061140"/>
            <a:ext cx="9359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Segoe UI"/>
                <a:cs typeface="Segoe UI"/>
              </a:rPr>
              <a:t>Documenta </a:t>
            </a:r>
            <a:r>
              <a:rPr sz="1400" spc="-20" dirty="0">
                <a:latin typeface="Segoe UI"/>
                <a:cs typeface="Segoe UI"/>
              </a:rPr>
              <a:t>tion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26376" y="5061140"/>
            <a:ext cx="6546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Segoe UI"/>
                <a:cs typeface="Segoe UI"/>
              </a:rPr>
              <a:t>Delivery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30777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</a:t>
            </a:r>
            <a:r>
              <a:rPr lang="en-US" spc="-20" dirty="0"/>
              <a:t>6</a:t>
            </a:r>
            <a:endParaRPr spc="-2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37" rIns="0" bIns="0" rtlCol="0">
            <a:spAutoFit/>
          </a:bodyPr>
          <a:lstStyle/>
          <a:p>
            <a:pPr marL="255905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Tools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5450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2166734"/>
            <a:ext cx="7154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Data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Preparation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Python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(Pandas,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NumPy)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Handle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nulls,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clean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types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4886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017" y="2761094"/>
            <a:ext cx="655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Exploration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Matplotlib,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Seaborn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Identify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sales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&amp;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return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trends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34322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017" y="3355454"/>
            <a:ext cx="4783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Export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for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Viz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Excel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Prepare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summary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tables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393758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017" y="3949814"/>
            <a:ext cx="537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Visualization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Tableau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Build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interactive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dashboards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453194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9017" y="4544174"/>
            <a:ext cx="5842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Documentation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PDF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&amp;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README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Ensure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reproducibility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30777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</a:t>
            </a:r>
            <a:r>
              <a:rPr lang="en-US" spc="-20" dirty="0"/>
              <a:t>6</a:t>
            </a:r>
            <a:endParaRPr spc="-2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37" rIns="0" bIns="0" rtlCol="0">
            <a:spAutoFit/>
          </a:bodyPr>
          <a:lstStyle/>
          <a:p>
            <a:pPr marL="174815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Cleaning</a:t>
            </a:r>
            <a:r>
              <a:rPr spc="-30" dirty="0"/>
              <a:t> </a:t>
            </a:r>
            <a:r>
              <a:rPr dirty="0"/>
              <a:t>Challenges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5450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2166734"/>
            <a:ext cx="546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Mixed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Date</a:t>
            </a:r>
            <a:r>
              <a:rPr sz="1800" spc="-1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Formats</a:t>
            </a:r>
            <a:r>
              <a:rPr sz="1800" spc="-2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1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pd.to_datetime(errors='coerce')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4886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017" y="2761094"/>
            <a:ext cx="4328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Missing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Customer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IDs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Dropped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/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flagged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34322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017" y="3355454"/>
            <a:ext cx="3740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Currency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Strings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Converted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to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float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393758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017" y="3949814"/>
            <a:ext cx="4923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Invalid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Descriptions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–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Flagged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as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Return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Reasons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453194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9017" y="4544174"/>
            <a:ext cx="5560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Lesson: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Data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cleaning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=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foundation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of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credible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analysis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30777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</a:t>
            </a:r>
            <a:r>
              <a:rPr lang="en-US" spc="-20" dirty="0"/>
              <a:t>6</a:t>
            </a:r>
            <a:endParaRPr spc="-2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37" rIns="0" bIns="0" rtlCol="0">
            <a:spAutoFit/>
          </a:bodyPr>
          <a:lstStyle/>
          <a:p>
            <a:pPr marL="2794000">
              <a:lnSpc>
                <a:spcPct val="100000"/>
              </a:lnSpc>
              <a:spcBef>
                <a:spcPts val="100"/>
              </a:spcBef>
            </a:pPr>
            <a:r>
              <a:rPr dirty="0"/>
              <a:t>KPI</a:t>
            </a:r>
            <a:r>
              <a:rPr spc="-40" dirty="0"/>
              <a:t> </a:t>
            </a:r>
            <a:r>
              <a:rPr dirty="0"/>
              <a:t>Summary</a:t>
            </a:r>
            <a:r>
              <a:rPr spc="-35" dirty="0"/>
              <a:t> </a:t>
            </a:r>
            <a:r>
              <a:rPr spc="-25" dirty="0"/>
              <a:t>Bar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5450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2129565"/>
            <a:ext cx="418782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65" dirty="0">
                <a:solidFill>
                  <a:srgbClr val="272727"/>
                </a:solidFill>
                <a:latin typeface="Segoe UI Emoji"/>
                <a:cs typeface="Segoe UI Emoji"/>
              </a:rPr>
              <a:t>💶</a:t>
            </a:r>
            <a:r>
              <a:rPr sz="2100" spc="-75" dirty="0">
                <a:solidFill>
                  <a:srgbClr val="272727"/>
                </a:solidFill>
                <a:latin typeface="Segoe UI Emoji"/>
                <a:cs typeface="Segoe UI Emoji"/>
              </a:rPr>
              <a:t> 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Total</a:t>
            </a:r>
            <a:r>
              <a:rPr sz="1800" spc="-10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Revenue:</a:t>
            </a:r>
            <a:r>
              <a:rPr sz="1800" spc="-6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€14.7M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(83%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from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UK)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4886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017" y="2723925"/>
            <a:ext cx="425894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65" dirty="0">
                <a:solidFill>
                  <a:srgbClr val="272727"/>
                </a:solidFill>
                <a:latin typeface="Segoe UI Emoji"/>
                <a:cs typeface="Segoe UI Emoji"/>
              </a:rPr>
              <a:t>👥</a:t>
            </a:r>
            <a:r>
              <a:rPr sz="2100" spc="-65" dirty="0">
                <a:solidFill>
                  <a:srgbClr val="272727"/>
                </a:solidFill>
                <a:latin typeface="Segoe UI Emoji"/>
                <a:cs typeface="Segoe UI Emoji"/>
              </a:rPr>
              <a:t> 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Top</a:t>
            </a:r>
            <a:r>
              <a:rPr sz="1800" spc="-8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Customer</a:t>
            </a:r>
            <a:r>
              <a:rPr sz="1800" spc="-6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(ID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18102):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€608K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spent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34322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017" y="3318285"/>
            <a:ext cx="305625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65" dirty="0">
                <a:solidFill>
                  <a:srgbClr val="272727"/>
                </a:solidFill>
                <a:latin typeface="Segoe UI Emoji"/>
                <a:cs typeface="Segoe UI Emoji"/>
              </a:rPr>
              <a:t>🔁</a:t>
            </a:r>
            <a:r>
              <a:rPr sz="2100" spc="-65" dirty="0">
                <a:solidFill>
                  <a:srgbClr val="272727"/>
                </a:solidFill>
                <a:latin typeface="Segoe UI Emoji"/>
                <a:cs typeface="Segoe UI Emoj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Average</a:t>
            </a:r>
            <a:r>
              <a:rPr sz="1800" spc="-9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Return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Rate: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20" dirty="0">
                <a:solidFill>
                  <a:srgbClr val="272727"/>
                </a:solidFill>
                <a:latin typeface="Segoe UI"/>
                <a:cs typeface="Segoe UI"/>
              </a:rPr>
              <a:t>7.3%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393758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017" y="3912645"/>
            <a:ext cx="516445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65" dirty="0">
                <a:solidFill>
                  <a:srgbClr val="272727"/>
                </a:solidFill>
                <a:latin typeface="Segoe UI Emoji"/>
                <a:cs typeface="Segoe UI Emoji"/>
              </a:rPr>
              <a:t>📦</a:t>
            </a:r>
            <a:r>
              <a:rPr sz="2100" spc="-65" dirty="0">
                <a:solidFill>
                  <a:srgbClr val="272727"/>
                </a:solidFill>
                <a:latin typeface="Segoe UI Emoji"/>
                <a:cs typeface="Segoe UI Emoj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Most</a:t>
            </a:r>
            <a:r>
              <a:rPr sz="1800" spc="-114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Returned</a:t>
            </a:r>
            <a:r>
              <a:rPr sz="1800" spc="-6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Product: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Paper</a:t>
            </a:r>
            <a:r>
              <a:rPr sz="1800" spc="-6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Craft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Little</a:t>
            </a:r>
            <a:r>
              <a:rPr sz="1800" spc="-6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Birdie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453194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9017" y="4507005"/>
            <a:ext cx="485457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40" dirty="0">
                <a:solidFill>
                  <a:srgbClr val="272727"/>
                </a:solidFill>
                <a:latin typeface="Segoe UI Emoji"/>
                <a:cs typeface="Segoe UI Emoji"/>
              </a:rPr>
              <a:t>🌍</a:t>
            </a:r>
            <a:r>
              <a:rPr sz="2100" spc="-55" dirty="0">
                <a:solidFill>
                  <a:srgbClr val="272727"/>
                </a:solidFill>
                <a:latin typeface="Segoe UI Emoji"/>
                <a:cs typeface="Segoe UI Emoj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Countries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Covered: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38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(UK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&amp;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EIRE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dominate)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7623" y="-54457"/>
            <a:ext cx="764794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84E85"/>
                </a:solidFill>
                <a:latin typeface="Segoe UI"/>
                <a:cs typeface="Segoe UI"/>
              </a:rPr>
              <a:t>Sales</a:t>
            </a:r>
            <a:r>
              <a:rPr sz="2800" b="1" spc="-95" dirty="0">
                <a:solidFill>
                  <a:srgbClr val="184E85"/>
                </a:solidFill>
                <a:latin typeface="Segoe UI"/>
                <a:cs typeface="Segoe UI"/>
              </a:rPr>
              <a:t> </a:t>
            </a:r>
            <a:r>
              <a:rPr sz="2800" b="1" dirty="0">
                <a:solidFill>
                  <a:srgbClr val="184E85"/>
                </a:solidFill>
                <a:latin typeface="Segoe UI"/>
                <a:cs typeface="Segoe UI"/>
              </a:rPr>
              <a:t>&amp;</a:t>
            </a:r>
            <a:r>
              <a:rPr sz="2800" b="1" spc="-95" dirty="0">
                <a:solidFill>
                  <a:srgbClr val="184E85"/>
                </a:solidFill>
                <a:latin typeface="Segoe UI"/>
                <a:cs typeface="Segoe UI"/>
              </a:rPr>
              <a:t> </a:t>
            </a:r>
            <a:r>
              <a:rPr sz="2800" b="1" dirty="0">
                <a:solidFill>
                  <a:srgbClr val="184E85"/>
                </a:solidFill>
                <a:latin typeface="Segoe UI"/>
                <a:cs typeface="Segoe UI"/>
              </a:rPr>
              <a:t>Revenue</a:t>
            </a:r>
            <a:r>
              <a:rPr sz="2800" b="1" spc="-95" dirty="0">
                <a:solidFill>
                  <a:srgbClr val="184E85"/>
                </a:solidFill>
                <a:latin typeface="Segoe UI"/>
                <a:cs typeface="Segoe UI"/>
              </a:rPr>
              <a:t> </a:t>
            </a:r>
            <a:r>
              <a:rPr lang="en-US" sz="2800" b="1" spc="-10" dirty="0">
                <a:solidFill>
                  <a:srgbClr val="184E85"/>
                </a:solidFill>
              </a:rPr>
              <a:t>Performance</a:t>
            </a:r>
            <a:endParaRPr sz="2800" dirty="0">
              <a:latin typeface="Segoe UI"/>
              <a:cs typeface="Segoe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479618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dirty="0"/>
              <a:t>Online Retail EDA | Artur Melnyk – Data Analyst | 202</a:t>
            </a:r>
            <a:r>
              <a:rPr lang="en-US" dirty="0"/>
              <a:t>6</a:t>
            </a:r>
          </a:p>
          <a:p>
            <a:pPr marL="1224280">
              <a:lnSpc>
                <a:spcPct val="100000"/>
              </a:lnSpc>
              <a:spcBef>
                <a:spcPts val="180"/>
              </a:spcBef>
            </a:pPr>
            <a:endParaRPr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CA26A5-D676-52FD-ABEF-3903E6D79D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8298"/>
            <a:ext cx="9144000" cy="601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5377" y="-59499"/>
            <a:ext cx="731324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0" marR="5080" indent="-3131185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84E85"/>
                </a:solidFill>
                <a:latin typeface="Segoe UI"/>
                <a:cs typeface="Segoe UI"/>
              </a:rPr>
              <a:t>Customers</a:t>
            </a:r>
            <a:r>
              <a:rPr sz="2800" b="1" spc="-85" dirty="0">
                <a:solidFill>
                  <a:srgbClr val="184E85"/>
                </a:solidFill>
                <a:latin typeface="Segoe UI"/>
                <a:cs typeface="Segoe UI"/>
              </a:rPr>
              <a:t> </a:t>
            </a:r>
            <a:r>
              <a:rPr sz="2800" b="1" dirty="0">
                <a:solidFill>
                  <a:srgbClr val="184E85"/>
                </a:solidFill>
                <a:latin typeface="Segoe UI"/>
                <a:cs typeface="Segoe UI"/>
              </a:rPr>
              <a:t>&amp;</a:t>
            </a:r>
            <a:r>
              <a:rPr sz="2800" b="1" spc="-90" dirty="0">
                <a:solidFill>
                  <a:srgbClr val="184E85"/>
                </a:solidFill>
                <a:latin typeface="Segoe UI"/>
                <a:cs typeface="Segoe UI"/>
              </a:rPr>
              <a:t> </a:t>
            </a:r>
            <a:r>
              <a:rPr sz="2800" b="1" dirty="0">
                <a:solidFill>
                  <a:srgbClr val="184E85"/>
                </a:solidFill>
                <a:latin typeface="Segoe UI"/>
                <a:cs typeface="Segoe UI"/>
              </a:rPr>
              <a:t>Returns</a:t>
            </a:r>
            <a:r>
              <a:rPr sz="2800" b="1" spc="-85" dirty="0">
                <a:solidFill>
                  <a:srgbClr val="184E85"/>
                </a:solidFill>
                <a:latin typeface="Segoe UI"/>
                <a:cs typeface="Segoe UI"/>
              </a:rPr>
              <a:t> </a:t>
            </a:r>
            <a:r>
              <a:rPr lang="en-US" sz="2800" b="1" spc="-10" dirty="0">
                <a:solidFill>
                  <a:srgbClr val="184E85"/>
                </a:solidFill>
              </a:rPr>
              <a:t>Analysis</a:t>
            </a:r>
            <a:endParaRPr sz="2800" dirty="0">
              <a:latin typeface="Segoe UI"/>
              <a:cs typeface="Segoe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30008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 Retail EDA | Artur Melnyk – Data Analyst | 202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D1C67D-7AE8-E6F9-4C06-A0611F949E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4212"/>
            <a:ext cx="9144000" cy="6030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30777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</a:t>
            </a:r>
            <a:r>
              <a:rPr lang="en-US" spc="-20" dirty="0"/>
              <a:t>6</a:t>
            </a:r>
            <a:endParaRPr spc="-2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37" rIns="0" bIns="0" rtlCol="0">
            <a:spAutoFit/>
          </a:bodyPr>
          <a:lstStyle/>
          <a:p>
            <a:pPr marL="295846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Top </a:t>
            </a:r>
            <a:r>
              <a:rPr dirty="0"/>
              <a:t>3</a:t>
            </a:r>
            <a:r>
              <a:rPr spc="-4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21014"/>
            <a:ext cx="6906895" cy="98551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459"/>
              </a:spcBef>
              <a:buFont typeface="Segoe UI"/>
              <a:buAutoNum type="arabicPeriod"/>
              <a:tabLst>
                <a:tab pos="245745" algn="l"/>
              </a:tabLst>
            </a:pPr>
            <a:r>
              <a:rPr sz="1800" cap="small" spc="-245" dirty="0">
                <a:solidFill>
                  <a:srgbClr val="272727"/>
                </a:solidFill>
                <a:latin typeface="Segoe UI Emoji"/>
                <a:cs typeface="Segoe UI Emoji"/>
              </a:rPr>
              <a:t>🇬🇧</a:t>
            </a:r>
            <a:r>
              <a:rPr sz="1800" spc="-245" dirty="0">
                <a:solidFill>
                  <a:srgbClr val="272727"/>
                </a:solidFill>
                <a:latin typeface="Segoe UI Emoji"/>
                <a:cs typeface="Segoe UI Emoji"/>
              </a:rPr>
              <a:t>"</a:t>
            </a:r>
            <a:r>
              <a:rPr sz="1800" dirty="0">
                <a:solidFill>
                  <a:srgbClr val="272727"/>
                </a:solidFill>
                <a:latin typeface="Segoe UI Emoji"/>
                <a:cs typeface="Segoe UI Emoj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UK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accounts</a:t>
            </a:r>
            <a:r>
              <a:rPr sz="1800" spc="-1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for</a:t>
            </a:r>
            <a:r>
              <a:rPr sz="1800" spc="-1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&gt;80%</a:t>
            </a:r>
            <a:r>
              <a:rPr sz="1800" spc="-1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sales</a:t>
            </a:r>
            <a:r>
              <a:rPr sz="1800" spc="-1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1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Focus</a:t>
            </a:r>
            <a:r>
              <a:rPr sz="1800" spc="-2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marketing/logistics</a:t>
            </a:r>
            <a:r>
              <a:rPr sz="1800" spc="-1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on</a:t>
            </a:r>
            <a:r>
              <a:rPr sz="1800" spc="-1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UK</a:t>
            </a:r>
            <a:endParaRPr sz="1800">
              <a:latin typeface="Segoe UI"/>
              <a:cs typeface="Segoe UI"/>
            </a:endParaRPr>
          </a:p>
          <a:p>
            <a:pPr marL="245745" indent="-233045">
              <a:lnSpc>
                <a:spcPct val="100000"/>
              </a:lnSpc>
              <a:spcBef>
                <a:spcPts val="359"/>
              </a:spcBef>
              <a:buAutoNum type="arabicPeriod"/>
              <a:tabLst>
                <a:tab pos="245745" algn="l"/>
              </a:tabLst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5%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customers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60%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revenue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Loyalty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&amp;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retention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programs</a:t>
            </a:r>
            <a:endParaRPr sz="1800">
              <a:latin typeface="Segoe UI"/>
              <a:cs typeface="Segoe UI"/>
            </a:endParaRPr>
          </a:p>
          <a:p>
            <a:pPr marL="245745" indent="-233045">
              <a:lnSpc>
                <a:spcPct val="100000"/>
              </a:lnSpc>
              <a:spcBef>
                <a:spcPts val="359"/>
              </a:spcBef>
              <a:buAutoNum type="arabicPeriod"/>
              <a:tabLst>
                <a:tab pos="245745" algn="l"/>
              </a:tabLst>
            </a:pP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Volume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returners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≠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Rate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returners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Differentiate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return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policies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30777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</a:t>
            </a:r>
            <a:r>
              <a:rPr lang="en-US" spc="-20" dirty="0"/>
              <a:t>6</a:t>
            </a:r>
            <a:endParaRPr spc="-2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37" rIns="0" bIns="0" rtlCol="0">
            <a:spAutoFit/>
          </a:bodyPr>
          <a:lstStyle/>
          <a:p>
            <a:pPr marL="2830830">
              <a:lnSpc>
                <a:spcPct val="100000"/>
              </a:lnSpc>
              <a:spcBef>
                <a:spcPts val="100"/>
              </a:spcBef>
            </a:pPr>
            <a:r>
              <a:rPr dirty="0"/>
              <a:t>Lessons</a:t>
            </a:r>
            <a:r>
              <a:rPr spc="-40" dirty="0"/>
              <a:t> </a:t>
            </a:r>
            <a:r>
              <a:rPr spc="-10" dirty="0"/>
              <a:t>Learned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21014"/>
            <a:ext cx="6505575" cy="16256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245745" algn="l"/>
              </a:tabLst>
            </a:pPr>
            <a:r>
              <a:rPr sz="1800" spc="-20" dirty="0">
                <a:solidFill>
                  <a:srgbClr val="272727"/>
                </a:solidFill>
                <a:latin typeface="Segoe UI"/>
                <a:cs typeface="Segoe UI"/>
              </a:rPr>
              <a:t>Validate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categorical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semantics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detect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hidden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return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reasons</a:t>
            </a:r>
            <a:endParaRPr sz="1800">
              <a:latin typeface="Segoe UI"/>
              <a:cs typeface="Segoe UI"/>
            </a:endParaRPr>
          </a:p>
          <a:p>
            <a:pPr marL="245745" indent="-233045">
              <a:lnSpc>
                <a:spcPct val="100000"/>
              </a:lnSpc>
              <a:spcBef>
                <a:spcPts val="359"/>
              </a:spcBef>
              <a:buAutoNum type="arabicPeriod"/>
              <a:tabLst>
                <a:tab pos="245745" algn="l"/>
              </a:tabLst>
            </a:pP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Verify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data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types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before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Tableau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import</a:t>
            </a:r>
            <a:endParaRPr sz="1800">
              <a:latin typeface="Segoe UI"/>
              <a:cs typeface="Segoe UI"/>
            </a:endParaRPr>
          </a:p>
          <a:p>
            <a:pPr marL="245745" indent="-233045">
              <a:lnSpc>
                <a:spcPct val="100000"/>
              </a:lnSpc>
              <a:spcBef>
                <a:spcPts val="359"/>
              </a:spcBef>
              <a:buAutoNum type="arabicPeriod"/>
              <a:tabLst>
                <a:tab pos="245745" algn="l"/>
              </a:tabLst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Curate</a:t>
            </a:r>
            <a:r>
              <a:rPr sz="1800" spc="-3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Top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N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avoid</a:t>
            </a:r>
            <a:r>
              <a:rPr sz="1800" spc="-3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clutter</a:t>
            </a:r>
            <a:endParaRPr sz="1800">
              <a:latin typeface="Segoe UI"/>
              <a:cs typeface="Segoe UI"/>
            </a:endParaRPr>
          </a:p>
          <a:p>
            <a:pPr marL="245745" indent="-233045">
              <a:lnSpc>
                <a:spcPct val="100000"/>
              </a:lnSpc>
              <a:spcBef>
                <a:spcPts val="359"/>
              </a:spcBef>
              <a:buAutoNum type="arabicPeriod"/>
              <a:tabLst>
                <a:tab pos="245745" algn="l"/>
              </a:tabLst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Document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continuously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4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reproducibility</a:t>
            </a:r>
            <a:endParaRPr sz="1800">
              <a:latin typeface="Segoe UI"/>
              <a:cs typeface="Segoe UI"/>
            </a:endParaRPr>
          </a:p>
          <a:p>
            <a:pPr marL="245745" indent="-233045">
              <a:lnSpc>
                <a:spcPct val="100000"/>
              </a:lnSpc>
              <a:spcBef>
                <a:spcPts val="359"/>
              </a:spcBef>
              <a:buAutoNum type="arabicPeriod"/>
              <a:tabLst>
                <a:tab pos="245745" algn="l"/>
              </a:tabLst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Separate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return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metrics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→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volume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vs</a:t>
            </a:r>
            <a:r>
              <a:rPr sz="1800" spc="-2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rate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clarity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30777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</a:t>
            </a:r>
            <a:r>
              <a:rPr lang="en-US" spc="-20" dirty="0"/>
              <a:t>6</a:t>
            </a:r>
            <a:endParaRPr spc="-2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37" rIns="0" bIns="0" rtlCol="0">
            <a:spAutoFit/>
          </a:bodyPr>
          <a:lstStyle/>
          <a:p>
            <a:pPr marL="2352675">
              <a:lnSpc>
                <a:spcPct val="100000"/>
              </a:lnSpc>
              <a:spcBef>
                <a:spcPts val="100"/>
              </a:spcBef>
            </a:pPr>
            <a:r>
              <a:rPr dirty="0"/>
              <a:t>Deliverables</a:t>
            </a:r>
            <a:r>
              <a:rPr spc="-3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Next</a:t>
            </a:r>
            <a:r>
              <a:rPr spc="-35" dirty="0"/>
              <a:t> </a:t>
            </a:r>
            <a:r>
              <a:rPr spc="-10" dirty="0"/>
              <a:t>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5450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2166734"/>
            <a:ext cx="6159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Deliverables: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Notebook,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Clean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Excel,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Tableau</a:t>
            </a:r>
            <a:r>
              <a:rPr sz="1800" spc="-5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Dashboard,</a:t>
            </a:r>
            <a:r>
              <a:rPr sz="1800" spc="-5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PDF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Documentation,</a:t>
            </a:r>
            <a:r>
              <a:rPr sz="1800" spc="-6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README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02318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017" y="3035414"/>
            <a:ext cx="5083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Dashboard</a:t>
            </a:r>
            <a:r>
              <a:rPr sz="1800" spc="-6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Link:</a:t>
            </a:r>
            <a:r>
              <a:rPr sz="1800" spc="-6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272727"/>
                </a:solidFill>
                <a:latin typeface="Segoe UI"/>
                <a:cs typeface="Segoe UI"/>
              </a:rPr>
              <a:t>Tableau</a:t>
            </a:r>
            <a:r>
              <a:rPr sz="1800" spc="-6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Public</a:t>
            </a:r>
            <a:r>
              <a:rPr sz="1800" spc="-6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(EDA</a:t>
            </a:r>
            <a:r>
              <a:rPr sz="1800" spc="-60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Visualization)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61754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017" y="3629774"/>
            <a:ext cx="73856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Next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Steps: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Extend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to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RFM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segmentation,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automate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monthly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272727"/>
                </a:solidFill>
                <a:latin typeface="Segoe UI"/>
                <a:cs typeface="Segoe UI"/>
              </a:rPr>
              <a:t>return</a:t>
            </a:r>
            <a:r>
              <a:rPr sz="1800" spc="-45" dirty="0">
                <a:solidFill>
                  <a:srgbClr val="272727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272727"/>
                </a:solidFill>
                <a:latin typeface="Segoe UI"/>
                <a:cs typeface="Segoe UI"/>
              </a:rPr>
              <a:t>alerts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845614" y="6414658"/>
            <a:ext cx="5446395" cy="30777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Retail</a:t>
            </a:r>
            <a:r>
              <a:rPr spc="-35" dirty="0"/>
              <a:t> </a:t>
            </a:r>
            <a:r>
              <a:rPr dirty="0"/>
              <a:t>EDA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Artur</a:t>
            </a:r>
            <a:r>
              <a:rPr spc="-40" dirty="0"/>
              <a:t> </a:t>
            </a:r>
            <a:r>
              <a:rPr dirty="0"/>
              <a:t>Melnyk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Analyst</a:t>
            </a:r>
            <a:r>
              <a:rPr spc="-35" dirty="0"/>
              <a:t> </a:t>
            </a:r>
            <a:r>
              <a:rPr dirty="0"/>
              <a:t>|</a:t>
            </a:r>
            <a:r>
              <a:rPr spc="-40" dirty="0"/>
              <a:t> </a:t>
            </a:r>
            <a:r>
              <a:rPr spc="-20" dirty="0"/>
              <a:t>202</a:t>
            </a:r>
            <a:r>
              <a:rPr lang="en-US" spc="-20" dirty="0"/>
              <a:t>6</a:t>
            </a:r>
            <a:endParaRPr spc="-2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37" rIns="0" bIns="0" rtlCol="0">
            <a:spAutoFit/>
          </a:bodyPr>
          <a:lstStyle/>
          <a:p>
            <a:pPr marL="2648585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  <a:r>
              <a:rPr spc="-20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spc="-10" dirty="0"/>
              <a:t>Closure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5256"/>
            <a:ext cx="106045" cy="6654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79017" y="1587500"/>
            <a:ext cx="7512050" cy="2482218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7150">
              <a:lnSpc>
                <a:spcPct val="108300"/>
              </a:lnSpc>
              <a:spcBef>
                <a:spcPts val="280"/>
              </a:spcBef>
            </a:pPr>
            <a:r>
              <a:rPr dirty="0"/>
              <a:t>Complete</a:t>
            </a:r>
            <a:r>
              <a:rPr spc="-30" dirty="0"/>
              <a:t> </a:t>
            </a:r>
            <a:r>
              <a:rPr dirty="0"/>
              <a:t>EDA</a:t>
            </a:r>
            <a:r>
              <a:rPr spc="-30" dirty="0"/>
              <a:t> </a:t>
            </a:r>
            <a:r>
              <a:rPr dirty="0"/>
              <a:t>case:</a:t>
            </a:r>
            <a:r>
              <a:rPr spc="-25" dirty="0"/>
              <a:t> </a:t>
            </a:r>
            <a:r>
              <a:rPr dirty="0"/>
              <a:t>raw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→</a:t>
            </a:r>
            <a:r>
              <a:rPr spc="-25" dirty="0"/>
              <a:t> </a:t>
            </a:r>
            <a:r>
              <a:rPr dirty="0"/>
              <a:t>insights</a:t>
            </a:r>
            <a:r>
              <a:rPr spc="-30" dirty="0"/>
              <a:t> </a:t>
            </a:r>
            <a:r>
              <a:rPr dirty="0"/>
              <a:t>→</a:t>
            </a:r>
            <a:r>
              <a:rPr spc="-30" dirty="0"/>
              <a:t> </a:t>
            </a:r>
            <a:r>
              <a:rPr dirty="0"/>
              <a:t>dashboards</a:t>
            </a:r>
            <a:r>
              <a:rPr spc="-25" dirty="0"/>
              <a:t> </a:t>
            </a:r>
            <a:r>
              <a:rPr dirty="0"/>
              <a:t>→</a:t>
            </a:r>
            <a:r>
              <a:rPr spc="-30" dirty="0"/>
              <a:t> </a:t>
            </a:r>
            <a:r>
              <a:rPr spc="-10" dirty="0"/>
              <a:t>documentation. Business-</a:t>
            </a:r>
            <a:r>
              <a:rPr dirty="0"/>
              <a:t>ready:</a:t>
            </a:r>
            <a:r>
              <a:rPr spc="-40" dirty="0"/>
              <a:t> </a:t>
            </a:r>
            <a:r>
              <a:rPr dirty="0"/>
              <a:t>actions</a:t>
            </a:r>
            <a:r>
              <a:rPr spc="-35" dirty="0"/>
              <a:t> </a:t>
            </a:r>
            <a:r>
              <a:rPr dirty="0"/>
              <a:t>tied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insights</a:t>
            </a:r>
            <a:r>
              <a:rPr spc="-35" dirty="0"/>
              <a:t> </a:t>
            </a:r>
            <a:r>
              <a:rPr dirty="0"/>
              <a:t>(UK</a:t>
            </a:r>
            <a:r>
              <a:rPr spc="-35" dirty="0"/>
              <a:t> </a:t>
            </a:r>
            <a:r>
              <a:rPr dirty="0"/>
              <a:t>focus,</a:t>
            </a:r>
            <a:r>
              <a:rPr spc="-35" dirty="0"/>
              <a:t> </a:t>
            </a:r>
            <a:r>
              <a:rPr dirty="0"/>
              <a:t>loyalty,</a:t>
            </a:r>
            <a:r>
              <a:rPr spc="-35" dirty="0"/>
              <a:t> </a:t>
            </a:r>
            <a:r>
              <a:rPr spc="-10" dirty="0"/>
              <a:t>differentiated returns).</a:t>
            </a:r>
          </a:p>
          <a:p>
            <a:pPr marL="12700" marR="289560">
              <a:lnSpc>
                <a:spcPct val="100000"/>
              </a:lnSpc>
              <a:spcBef>
                <a:spcPts val="360"/>
              </a:spcBef>
            </a:pPr>
            <a:r>
              <a:rPr dirty="0"/>
              <a:t>Reproducible</a:t>
            </a:r>
            <a:r>
              <a:rPr spc="-45" dirty="0"/>
              <a:t> </a:t>
            </a:r>
            <a:r>
              <a:rPr dirty="0"/>
              <a:t>workflow:</a:t>
            </a:r>
            <a:r>
              <a:rPr spc="-45" dirty="0"/>
              <a:t> </a:t>
            </a:r>
            <a:r>
              <a:rPr dirty="0"/>
              <a:t>notebook</a:t>
            </a:r>
            <a:r>
              <a:rPr spc="-45" dirty="0"/>
              <a:t> </a:t>
            </a:r>
            <a:r>
              <a:rPr dirty="0"/>
              <a:t>+</a:t>
            </a:r>
            <a:r>
              <a:rPr spc="-45" dirty="0"/>
              <a:t> </a:t>
            </a:r>
            <a:r>
              <a:rPr dirty="0"/>
              <a:t>cleaned</a:t>
            </a:r>
            <a:r>
              <a:rPr spc="-40" dirty="0"/>
              <a:t> </a:t>
            </a:r>
            <a:r>
              <a:rPr dirty="0"/>
              <a:t>dataset</a:t>
            </a:r>
            <a:r>
              <a:rPr spc="-45" dirty="0"/>
              <a:t> </a:t>
            </a:r>
            <a:r>
              <a:rPr dirty="0"/>
              <a:t>+</a:t>
            </a:r>
            <a:r>
              <a:rPr spc="-45" dirty="0"/>
              <a:t> </a:t>
            </a:r>
            <a:r>
              <a:rPr spc="-25" dirty="0"/>
              <a:t>Tableau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PDF</a:t>
            </a:r>
            <a:r>
              <a:rPr spc="-45" dirty="0"/>
              <a:t> </a:t>
            </a:r>
            <a:r>
              <a:rPr spc="-50" dirty="0"/>
              <a:t>+ </a:t>
            </a:r>
            <a:r>
              <a:rPr spc="-10" dirty="0"/>
              <a:t>README.</a:t>
            </a:r>
          </a:p>
          <a:p>
            <a:pPr marL="12700" marR="5080" algn="just">
              <a:lnSpc>
                <a:spcPct val="116700"/>
              </a:lnSpc>
            </a:pPr>
            <a:r>
              <a:rPr dirty="0"/>
              <a:t>Executive</a:t>
            </a:r>
            <a:r>
              <a:rPr spc="-45" dirty="0"/>
              <a:t> </a:t>
            </a:r>
            <a:r>
              <a:rPr dirty="0"/>
              <a:t>communication:</a:t>
            </a:r>
            <a:r>
              <a:rPr spc="-45" dirty="0"/>
              <a:t> </a:t>
            </a:r>
            <a:r>
              <a:rPr dirty="0"/>
              <a:t>KPI</a:t>
            </a:r>
            <a:r>
              <a:rPr spc="-45" dirty="0"/>
              <a:t> </a:t>
            </a:r>
            <a:r>
              <a:rPr dirty="0"/>
              <a:t>slide,</a:t>
            </a:r>
            <a:r>
              <a:rPr spc="-40" dirty="0"/>
              <a:t> </a:t>
            </a:r>
            <a:r>
              <a:rPr dirty="0"/>
              <a:t>curated</a:t>
            </a:r>
            <a:r>
              <a:rPr spc="-45" dirty="0"/>
              <a:t> </a:t>
            </a:r>
            <a:r>
              <a:rPr spc="-60" dirty="0"/>
              <a:t>Top-</a:t>
            </a:r>
            <a:r>
              <a:rPr dirty="0"/>
              <a:t>N</a:t>
            </a:r>
            <a:r>
              <a:rPr spc="-45" dirty="0"/>
              <a:t> </a:t>
            </a:r>
            <a:r>
              <a:rPr dirty="0"/>
              <a:t>visuals,</a:t>
            </a:r>
            <a:r>
              <a:rPr spc="-40" dirty="0"/>
              <a:t> </a:t>
            </a:r>
            <a:r>
              <a:rPr dirty="0"/>
              <a:t>branded</a:t>
            </a:r>
            <a:r>
              <a:rPr spc="-45" dirty="0"/>
              <a:t> </a:t>
            </a:r>
            <a:r>
              <a:rPr spc="-10" dirty="0"/>
              <a:t>footer. </a:t>
            </a:r>
            <a:r>
              <a:rPr dirty="0"/>
              <a:t>Next:</a:t>
            </a:r>
            <a:r>
              <a:rPr spc="-45" dirty="0"/>
              <a:t> </a:t>
            </a:r>
            <a:r>
              <a:rPr dirty="0"/>
              <a:t>RFM</a:t>
            </a:r>
            <a:r>
              <a:rPr spc="-40" dirty="0"/>
              <a:t> </a:t>
            </a:r>
            <a:r>
              <a:rPr dirty="0"/>
              <a:t>segmentation,</a:t>
            </a:r>
            <a:r>
              <a:rPr spc="-40" dirty="0"/>
              <a:t> </a:t>
            </a:r>
            <a:r>
              <a:rPr spc="-10" dirty="0"/>
              <a:t>CLV</a:t>
            </a:r>
            <a:r>
              <a:rPr spc="-40" dirty="0"/>
              <a:t> </a:t>
            </a:r>
            <a:r>
              <a:rPr dirty="0"/>
              <a:t>model,</a:t>
            </a:r>
            <a:r>
              <a:rPr spc="-40" dirty="0"/>
              <a:t> </a:t>
            </a:r>
            <a:r>
              <a:rPr dirty="0"/>
              <a:t>automation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monthly</a:t>
            </a:r>
            <a:r>
              <a:rPr spc="-40" dirty="0"/>
              <a:t> </a:t>
            </a:r>
            <a:r>
              <a:rPr dirty="0"/>
              <a:t>return</a:t>
            </a:r>
            <a:r>
              <a:rPr spc="-40" dirty="0"/>
              <a:t> </a:t>
            </a:r>
            <a:r>
              <a:rPr spc="-10" dirty="0"/>
              <a:t>alerts. </a:t>
            </a:r>
            <a:r>
              <a:rPr i="1" dirty="0">
                <a:latin typeface="Segoe UI"/>
                <a:cs typeface="Segoe UI"/>
              </a:rPr>
              <a:t>From</a:t>
            </a:r>
            <a:r>
              <a:rPr i="1" spc="-40" dirty="0">
                <a:latin typeface="Segoe UI"/>
                <a:cs typeface="Segoe UI"/>
              </a:rPr>
              <a:t> </a:t>
            </a:r>
            <a:r>
              <a:rPr i="1" dirty="0">
                <a:latin typeface="Segoe UI"/>
                <a:cs typeface="Segoe UI"/>
              </a:rPr>
              <a:t>Data</a:t>
            </a:r>
            <a:r>
              <a:rPr i="1" spc="-35" dirty="0">
                <a:latin typeface="Segoe UI"/>
                <a:cs typeface="Segoe UI"/>
              </a:rPr>
              <a:t> </a:t>
            </a:r>
            <a:r>
              <a:rPr i="1" dirty="0">
                <a:latin typeface="Segoe UI"/>
                <a:cs typeface="Segoe UI"/>
              </a:rPr>
              <a:t>to</a:t>
            </a:r>
            <a:r>
              <a:rPr i="1" spc="-35" dirty="0">
                <a:latin typeface="Segoe UI"/>
                <a:cs typeface="Segoe UI"/>
              </a:rPr>
              <a:t> </a:t>
            </a:r>
            <a:r>
              <a:rPr i="1" dirty="0">
                <a:latin typeface="Segoe UI"/>
                <a:cs typeface="Segoe UI"/>
              </a:rPr>
              <a:t>Decisions</a:t>
            </a:r>
            <a:r>
              <a:rPr i="1" spc="-40" dirty="0">
                <a:latin typeface="Segoe UI"/>
                <a:cs typeface="Segoe UI"/>
              </a:rPr>
              <a:t> </a:t>
            </a:r>
            <a:r>
              <a:rPr i="1" dirty="0">
                <a:latin typeface="Segoe UI"/>
                <a:cs typeface="Segoe UI"/>
              </a:rPr>
              <a:t>—</a:t>
            </a:r>
            <a:r>
              <a:rPr i="1" spc="-30" dirty="0">
                <a:latin typeface="Segoe UI"/>
                <a:cs typeface="Segoe UI"/>
              </a:rPr>
              <a:t> </a:t>
            </a:r>
            <a:r>
              <a:rPr i="1" dirty="0">
                <a:latin typeface="Segoe UI"/>
                <a:cs typeface="Segoe UI"/>
              </a:rPr>
              <a:t>Artur</a:t>
            </a:r>
            <a:r>
              <a:rPr i="1" spc="-35" dirty="0">
                <a:latin typeface="Segoe UI"/>
                <a:cs typeface="Segoe UI"/>
              </a:rPr>
              <a:t> </a:t>
            </a:r>
            <a:r>
              <a:rPr i="1" dirty="0">
                <a:latin typeface="Segoe UI"/>
                <a:cs typeface="Segoe UI"/>
              </a:rPr>
              <a:t>Melnyk,</a:t>
            </a:r>
            <a:r>
              <a:rPr i="1" spc="-35" dirty="0">
                <a:latin typeface="Segoe UI"/>
                <a:cs typeface="Segoe UI"/>
              </a:rPr>
              <a:t> </a:t>
            </a:r>
            <a:r>
              <a:rPr i="1" spc="-20" dirty="0">
                <a:latin typeface="Segoe UI"/>
                <a:cs typeface="Segoe UI"/>
              </a:rPr>
              <a:t>202</a:t>
            </a:r>
            <a:r>
              <a:rPr lang="en-US" i="1" spc="-20" dirty="0">
                <a:latin typeface="Segoe UI"/>
                <a:cs typeface="Segoe UI"/>
              </a:rPr>
              <a:t>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2535377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084017"/>
            <a:ext cx="106045" cy="98551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1800" spc="-50" dirty="0">
                <a:solidFill>
                  <a:srgbClr val="272727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33CEA-66C5-057C-13BF-A0D1C0BF50C9}"/>
              </a:ext>
            </a:extLst>
          </p:cNvPr>
          <p:cNvSpPr txBox="1"/>
          <p:nvPr/>
        </p:nvSpPr>
        <p:spPr>
          <a:xfrm>
            <a:off x="0" y="4953000"/>
            <a:ext cx="914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:  </a:t>
            </a:r>
            <a:r>
              <a:rPr lang="en-US" dirty="0">
                <a:hlinkClick r:id="rId2"/>
              </a:rPr>
              <a:t>https://github.com/ArturMelnyk-analyst/EDA-onlineretail</a:t>
            </a:r>
            <a:endParaRPr lang="en-US" dirty="0"/>
          </a:p>
          <a:p>
            <a:endParaRPr lang="en-US" dirty="0"/>
          </a:p>
          <a:p>
            <a:r>
              <a:rPr lang="en-US" dirty="0"/>
              <a:t>Tableau: </a:t>
            </a:r>
            <a:r>
              <a:rPr lang="en-US" dirty="0">
                <a:hlinkClick r:id="rId3"/>
              </a:rPr>
              <a:t>https://public.tableau.com/app/profile/artur.melnyk/viz/EDAvisualization/OnlineRetailEDAStory</a:t>
            </a:r>
            <a:endParaRPr lang="en-C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645</Words>
  <Application>Microsoft Office PowerPoint</Application>
  <PresentationFormat>On-screen Show (4:3)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MT</vt:lpstr>
      <vt:lpstr>Segoe UI</vt:lpstr>
      <vt:lpstr>Segoe UI Emoji</vt:lpstr>
      <vt:lpstr>Office Theme</vt:lpstr>
      <vt:lpstr>Online Retail EDA – Customer &amp; Returns Analytics</vt:lpstr>
      <vt:lpstr>Project Overview</vt:lpstr>
      <vt:lpstr>Tools &amp; Methodology</vt:lpstr>
      <vt:lpstr>Data Cleaning Challenges &amp; Solutions</vt:lpstr>
      <vt:lpstr>KPI Summary Bar</vt:lpstr>
      <vt:lpstr>Sales &amp; Revenue Performance</vt:lpstr>
      <vt:lpstr>Customers &amp; Returns Analysis</vt:lpstr>
      <vt:lpstr>Top 3 Insights</vt:lpstr>
      <vt:lpstr>Lessons Learned</vt:lpstr>
      <vt:lpstr>Deliverables &amp; Next Steps</vt:lpstr>
      <vt:lpstr>Summary &amp; Closure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Artur Melnyk</cp:lastModifiedBy>
  <cp:revision>2</cp:revision>
  <dcterms:created xsi:type="dcterms:W3CDTF">2026-06-18T15:38:29Z</dcterms:created>
  <dcterms:modified xsi:type="dcterms:W3CDTF">2026-06-18T15:53:17Z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2025-10-18T00:00:00Z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25.2.3.2 (AARCH64) / LibreOffice Community</vt:lpwstr>
  </property>
  <property fmtid="{D5CDD505-2E9C-101B-9397-08002B2CF9AE}" pid="6" name="LastSaved">
    <vt:filetime>2025-10-18T00:00:00Z</vt:filetime>
  </property>
</Properties>
</file>